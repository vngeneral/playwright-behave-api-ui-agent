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PROPOSAL  ·  JULY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Test Automation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·  Behave (BDD)  ·  Allure  ·  Cloud LLM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self-healing, chat-operated end-to-end testing platform — built to cut QA maintenance cost and accelerate release confidence.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Engineering Leadership   |   Tony Le, Principal Engineer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49640" y="1737360"/>
            <a:ext cx="2834640" cy="2834640"/>
          </a:xfrm>
          <a:prstGeom prst="ellipse">
            <a:avLst/>
          </a:prstGeom>
          <a:solidFill>
            <a:srgbClr val="27336E"/>
          </a:solidFill>
          <a:ln/>
        </p:spPr>
      </p:sp>
      <p:sp>
        <p:nvSpPr>
          <p:cNvPr id="7" name="Shape 5"/>
          <p:cNvSpPr/>
          <p:nvPr/>
        </p:nvSpPr>
        <p:spPr>
          <a:xfrm>
            <a:off x="8915400" y="2103120"/>
            <a:ext cx="2103120" cy="21031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60604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109960" y="1417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0" y="461772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27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27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8928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rising cost of manual test upkeep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27048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527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18928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architecture &amp; execution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27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 dives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34930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· chat operations · reporting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127248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127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34930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gains — and the math behind them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27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45920" y="4663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50932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over 6 months, with exit criteria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727448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727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15200" y="4663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the ask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50932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model, staffing, approvals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 — Manual Upkeep Is Eating QA Capacity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165323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4447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selectors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600200" y="186537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UI change breaks locators; engineers spend days repairing tests instead of expanding coverage.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03580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" y="3226003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3017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test authoring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00200" y="343814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reviewing new E2E scenarios by hand takes days per feature — QA becomes the release bottleneck.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4608576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4798771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5902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Opaque, manual reporting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600200" y="50109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copied into TestRail by hand; no audit trail, no single trigger point for stakeholders.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040880" y="1325880"/>
            <a:ext cx="4572000" cy="489204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16" name="Text 11"/>
          <p:cNvSpPr/>
          <p:nvPr/>
        </p:nvSpPr>
        <p:spPr>
          <a:xfrm>
            <a:off x="7360920" y="16002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9052560" y="1655064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automation effort typically goes to repairing broken tests, not new coverage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360920" y="317296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9052560" y="322783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author, review, and wire a single new E2E scenario today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360920" y="474573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9052560" y="4800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path from a chat request to a test run and a pushed result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Framework, Two Layers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67512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18699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5727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  —  AI &amp; Integration Engine (internal team)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1993392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AI  ·  Test generation  ·  Multi-agent pipeline  ·  TestRail queue  ·  Teams / WhatsApp webhook server  ·  Metrics &amp; alerts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6675120" cy="182880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37490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39273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6301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  —  Test Suite (QA team)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828800" y="4050792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features  ·  Step definitions  ·  Page objects  ·  API clients  ·  Allure reporting  ·  One-command CLI runner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86400"/>
            <a:ext cx="6675120" cy="68580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4864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utils/  —  logging, config validation, constants (both layers)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by design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680960" y="18745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receives only e2e/ and is productive on day one. If the agent layer is absent, tests still run — AI healing and integrations degrade gracefully to no-ops. Zero vendor lock-in on the AI side.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68096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680960" y="4069080"/>
            <a:ext cx="1069848" cy="384048"/>
          </a:xfrm>
          <a:prstGeom prst="roundRect">
            <a:avLst>
              <a:gd name="adj" fmla="val 47619"/>
            </a:avLst>
          </a:prstGeom>
          <a:solidFill>
            <a:srgbClr val="F3F6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80960" y="406908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915400" y="4069080"/>
            <a:ext cx="1069848" cy="384048"/>
          </a:xfrm>
          <a:prstGeom prst="roundRect">
            <a:avLst>
              <a:gd name="adj" fmla="val 47619"/>
            </a:avLst>
          </a:prstGeom>
          <a:solidFill>
            <a:srgbClr val="F3F6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15400" y="406908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 BDD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0149840" y="4069080"/>
            <a:ext cx="758952" cy="384048"/>
          </a:xfrm>
          <a:prstGeom prst="roundRect">
            <a:avLst>
              <a:gd name="adj" fmla="val 47619"/>
            </a:avLst>
          </a:prstGeom>
          <a:solidFill>
            <a:srgbClr val="F3F6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149840" y="4069080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680960" y="457200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F3F6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80960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537192" y="4572000"/>
            <a:ext cx="1380744" cy="384048"/>
          </a:xfrm>
          <a:prstGeom prst="roundRect">
            <a:avLst>
              <a:gd name="adj" fmla="val 47619"/>
            </a:avLst>
          </a:prstGeom>
          <a:solidFill>
            <a:srgbClr val="F3F6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537192" y="457200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webhooks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680960" y="5074920"/>
            <a:ext cx="914400" cy="384048"/>
          </a:xfrm>
          <a:prstGeom prst="roundRect">
            <a:avLst>
              <a:gd name="adj" fmla="val 47619"/>
            </a:avLst>
          </a:prstGeom>
          <a:solidFill>
            <a:srgbClr val="F3F6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680960" y="5074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759952" y="5074920"/>
            <a:ext cx="1380744" cy="384048"/>
          </a:xfrm>
          <a:prstGeom prst="roundRect">
            <a:avLst>
              <a:gd name="adj" fmla="val 47619"/>
            </a:avLst>
          </a:prstGeom>
          <a:solidFill>
            <a:srgbClr val="F3F6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759952" y="507492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Architecture — From Trigger to Report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00400" cy="3246120"/>
          </a:xfrm>
          <a:prstGeom prst="roundRect">
            <a:avLst>
              <a:gd name="adj" fmla="val 2857"/>
            </a:avLst>
          </a:prstGeom>
          <a:solidFill>
            <a:srgbClr val="F3F6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9933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12415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2494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run_tests.py — tags, browser, env, parallel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2862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299283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834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63040" y="3118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/ GitLab / Jenkins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" y="3730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3861511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7033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command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463040" y="39867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!run from Teams or WhatsApp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160520" y="137160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</p:sp>
      <p:sp>
        <p:nvSpPr>
          <p:cNvPr id="18" name="Text 13"/>
          <p:cNvSpPr/>
          <p:nvPr/>
        </p:nvSpPr>
        <p:spPr>
          <a:xfrm>
            <a:off x="443484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CORE — e2e/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434840" y="205740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5"/>
          <p:cNvSpPr/>
          <p:nvPr/>
        </p:nvSpPr>
        <p:spPr>
          <a:xfrm>
            <a:off x="4709160" y="195681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 BDD engine reads Gherkin .feature files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434840" y="27157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7"/>
          <p:cNvSpPr/>
          <p:nvPr/>
        </p:nvSpPr>
        <p:spPr>
          <a:xfrm>
            <a:off x="4709160" y="261518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step definitions call page objects &amp; API clients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434840" y="337413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19"/>
          <p:cNvSpPr/>
          <p:nvPr/>
        </p:nvSpPr>
        <p:spPr>
          <a:xfrm>
            <a:off x="4709160" y="32735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environment.py hooks wrap every scenario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434840" y="403250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1"/>
          <p:cNvSpPr/>
          <p:nvPr/>
        </p:nvSpPr>
        <p:spPr>
          <a:xfrm>
            <a:off x="4709160" y="3931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invoke agent services — if present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229600" y="137160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F3F6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50392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SERVICES — agent/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503920" y="1993392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037" y="2107509"/>
            <a:ext cx="210678" cy="21067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98280" y="19933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 (LLM)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8503920" y="2633472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037" y="2747589"/>
            <a:ext cx="210678" cy="21067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098280" y="26334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 result queue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8503920" y="3273552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037" y="3387669"/>
            <a:ext cx="210678" cy="21067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98280" y="32735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collector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503920" y="3913632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8037" y="4027749"/>
            <a:ext cx="210678" cy="21067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098280" y="39136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notifier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3813048" y="2788920"/>
            <a:ext cx="274320" cy="4114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42" name="Shape 33"/>
          <p:cNvSpPr/>
          <p:nvPr/>
        </p:nvSpPr>
        <p:spPr>
          <a:xfrm>
            <a:off x="7863840" y="2788920"/>
            <a:ext cx="274320" cy="4114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43" name="Text 34"/>
          <p:cNvSpPr/>
          <p:nvPr/>
        </p:nvSpPr>
        <p:spPr>
          <a:xfrm>
            <a:off x="54864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PRODUCES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548640" y="521208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45" name="Shape 36"/>
          <p:cNvSpPr/>
          <p:nvPr/>
        </p:nvSpPr>
        <p:spPr>
          <a:xfrm>
            <a:off x="685800" y="5312664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917" y="5426781"/>
            <a:ext cx="210678" cy="21067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128016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HTML report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4343400" y="521208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49" name="Shape 39"/>
          <p:cNvSpPr/>
          <p:nvPr/>
        </p:nvSpPr>
        <p:spPr>
          <a:xfrm>
            <a:off x="4480560" y="531266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4677" y="5426781"/>
            <a:ext cx="210678" cy="21067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0749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 results — after human push</a:t>
            </a:r>
            <a:endParaRPr lang="en-US" sz="1200" dirty="0"/>
          </a:p>
        </p:txBody>
      </p:sp>
      <p:sp>
        <p:nvSpPr>
          <p:cNvPr id="52" name="Shape 41"/>
          <p:cNvSpPr/>
          <p:nvPr/>
        </p:nvSpPr>
        <p:spPr>
          <a:xfrm>
            <a:off x="8138160" y="521208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3" name="Shape 42"/>
          <p:cNvSpPr/>
          <p:nvPr/>
        </p:nvSpPr>
        <p:spPr>
          <a:xfrm>
            <a:off x="8275320" y="5312664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9437" y="5426781"/>
            <a:ext cx="210678" cy="21067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886968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Slack notifications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 </a:t>
            </a:r>
            <a:pPr indent="0" marL="0"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agent/ is absent, hooks become no-ops — QA runs the exact same tests with zero code change.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Highlights — The AI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4688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locator breaks mid-run, the LLM inspects the live page and repairs it on the spot. UI changes stop failing entire suites.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8580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Generation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29400" y="24688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complete .feature files from a cURL command, a plaintext requirement, or a live page — minutes instead of days. Human review before commit, always.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931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3726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60120" y="49834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Generator → Executor → Validator: generated tests are executed and validated automatically before a human ever reviews them.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309360" y="3931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583680" y="4206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3726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LLM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629400" y="49834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by default; switch to OpenAI or local Ollama with one env var. Stub mode runs CI with zero AI cost and zero credentials.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Test Generation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73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764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4048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cURL command, a plaintext requirement, or a live page URL — whatever the team already has.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78808" y="2240280"/>
            <a:ext cx="219456" cy="347472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4173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67335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764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27448" y="24048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test intent and a coverage plan: happy path, negative cases, boundary values.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2240280"/>
            <a:ext cx="219456" cy="347472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4173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0" y="1673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0" y="1764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agent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13648" y="24048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Gherkin .feature file and any missing step definitions in framework style.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91363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005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agent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41248" y="464515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runs the draft against the target environment — no untested output.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78808" y="4480560"/>
            <a:ext cx="219456" cy="347472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4434840" y="36576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9160" y="3913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40680" y="4005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agent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727448" y="464515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results, repairs flaky steps, rejects scenarios that don't hold up.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65008" y="4480560"/>
            <a:ext cx="219456" cy="347472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8321040" y="36576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8595360" y="391363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326880" y="4005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613648" y="464515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reviews the diff; one command creates TestRail cases and tags the file.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never merge and never touch TestRail without explicit review — case creation is a manual, idempotent, reviewed step.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Highlights — Chat Operations &amp; Governed Reporting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663440" cy="484632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45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 /  WhatsApp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!run --tags @smoke --browser firefox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00200" y="27889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27336E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788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42 passed · 0 failed · Allure report attached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34747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74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!testrail 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00200" y="41605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27336E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results pending review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48463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8463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!testrail push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00200" y="55321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27336E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55321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Pushed to TestRail run #218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0" y="14630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1421" y="1629461"/>
            <a:ext cx="307238" cy="30723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37960" y="1444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from chat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537960" y="18105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authorized triggers full or filtered runs from Teams or WhatsApp — no CLI, no CI console.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15000" y="26791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421" y="2845613"/>
            <a:ext cx="307238" cy="30723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537960" y="2660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TestRail push</a:t>
            </a:r>
            <a:endParaRPr lang="en-US" sz="1550" dirty="0"/>
          </a:p>
        </p:txBody>
      </p:sp>
      <p:sp>
        <p:nvSpPr>
          <p:cNvPr id="24" name="Text 20"/>
          <p:cNvSpPr/>
          <p:nvPr/>
        </p:nvSpPr>
        <p:spPr>
          <a:xfrm>
            <a:off x="6537960" y="302666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queue locally; a reviewer previews and explicitly pushes. Nothing reaches TestRail unreviewed — by design.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715000" y="3895344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1" y="4061765"/>
            <a:ext cx="307238" cy="3072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37960" y="3877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Allure reporting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6537960" y="42428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yields an interactive HTML report with screenshots, API payloads, and failure causes attached.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715000" y="51114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421" y="5277917"/>
            <a:ext cx="307238" cy="30723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537960" y="5093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failure alerts</a:t>
            </a:r>
            <a:endParaRPr lang="en-US" sz="1550" dirty="0"/>
          </a:p>
        </p:txBody>
      </p:sp>
      <p:sp>
        <p:nvSpPr>
          <p:cNvPr id="32" name="Text 26"/>
          <p:cNvSpPr/>
          <p:nvPr/>
        </p:nvSpPr>
        <p:spPr>
          <a:xfrm>
            <a:off x="6537960" y="54589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notifier fans out to Slack, Teams, and WhatsApp the moment a run fails.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Operations — Under the Hood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2704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1660185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sends a command in Teams or WhatsApp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417320" y="17922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!run --tags @smoke   or   !testrail push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 rot="10800000">
            <a:off x="3474720" y="2212848"/>
            <a:ext cx="23774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359152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514600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9" y="264773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webhook server authenticates the request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417320" y="27797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Teams: HMAC-SHA256 signature · WhatsApp: Meta token verification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 rot="10800000">
            <a:off x="3474720" y="3200400"/>
            <a:ext cx="23774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" y="3346704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5021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9" y="3635289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4381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parser validates syntax and arguments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417320" y="3767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or malformed commands get a help reply — nothing executes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 rot="10800000">
            <a:off x="3474720" y="4187952"/>
            <a:ext cx="23774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4334256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/>
        </p:spPr>
      </p:sp>
      <p:sp>
        <p:nvSpPr>
          <p:cNvPr id="22" name="Shape 17"/>
          <p:cNvSpPr/>
          <p:nvPr/>
        </p:nvSpPr>
        <p:spPr>
          <a:xfrm>
            <a:off x="713232" y="4489704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4622841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4256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executes the matching action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41732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!run → test runner · !testrail → review queue · !status → last-run metrics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 rot="10800000">
            <a:off x="3474720" y="5175504"/>
            <a:ext cx="237744" cy="14630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7" name="Shape 21"/>
          <p:cNvSpPr/>
          <p:nvPr/>
        </p:nvSpPr>
        <p:spPr>
          <a:xfrm>
            <a:off x="548640" y="5321808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/>
        </p:spPr>
      </p:sp>
      <p:sp>
        <p:nvSpPr>
          <p:cNvPr id="28" name="Shape 22"/>
          <p:cNvSpPr/>
          <p:nvPr/>
        </p:nvSpPr>
        <p:spPr>
          <a:xfrm>
            <a:off x="713232" y="54772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9" y="5610393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17320" y="54132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returns to the same chat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1417320" y="57424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 + Allure link; failures fan out via the unified notifier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040880" y="1371600"/>
            <a:ext cx="4572000" cy="493776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33" name="Text 26"/>
          <p:cNvSpPr/>
          <p:nvPr/>
        </p:nvSpPr>
        <p:spPr>
          <a:xfrm>
            <a:off x="736092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36092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F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!run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969264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tests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7360920" y="252374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F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!run --tags @smoke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9692640" y="25237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tag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360920" y="2990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F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!run --browser firefox --env staging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9692640" y="29900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browser &amp; environment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7360920" y="3456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F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!status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9692640" y="34564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run summary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7360920" y="39227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F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!testrail status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9692640" y="39227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result count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7360920" y="4389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F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!testrail preview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9692640" y="4389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pending details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7360920" y="48554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F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!testrail push [--run-id N]</a:t>
            </a:r>
            <a:endParaRPr lang="en-US" sz="1050" dirty="0"/>
          </a:p>
        </p:txBody>
      </p:sp>
      <p:sp>
        <p:nvSpPr>
          <p:cNvPr id="47" name="Text 40"/>
          <p:cNvSpPr/>
          <p:nvPr/>
        </p:nvSpPr>
        <p:spPr>
          <a:xfrm>
            <a:off x="9692640" y="485546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after review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7360920" y="53218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F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!testrail discard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9692640" y="53218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queue</a:t>
            </a:r>
            <a:endParaRPr lang="en-US" sz="950" dirty="0"/>
          </a:p>
        </p:txBody>
      </p:sp>
      <p:sp>
        <p:nvSpPr>
          <p:cNvPr id="50" name="Text 43"/>
          <p:cNvSpPr/>
          <p:nvPr/>
        </p:nvSpPr>
        <p:spPr>
          <a:xfrm>
            <a:off x="7360920" y="57881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F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!help</a:t>
            </a:r>
            <a:endParaRPr lang="en-US" sz="1050" dirty="0"/>
          </a:p>
        </p:txBody>
      </p:sp>
      <p:sp>
        <p:nvSpPr>
          <p:cNvPr id="51" name="Text 44"/>
          <p:cNvSpPr/>
          <p:nvPr/>
        </p:nvSpPr>
        <p:spPr>
          <a:xfrm>
            <a:off x="9692640" y="57881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— Three Views of Every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HTML report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1248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1248" y="288036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timeline for every scenario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automatically on failure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request / response payloads attached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cause and flakiness history trends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41732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3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1" y="18580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 — governed record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27448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1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QA LEADS &amp; AUDIT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27448" y="288036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@testrail-tagged scenario queued with status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Failure-cause comment written automatically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previews, then explicitly pushes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from run to record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21040" y="141732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3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59536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781" y="18580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7260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metrics JSON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613648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LEADERSHIP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613648" y="288036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rate, duration, per-tag breakdown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events counted per run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threshold-based alerting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up into the monthly impact report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Business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selector-maintenance effort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repairs broken locators in-run; engineers stop firefighting and expand coverage instead.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8288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091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scenario drafting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33832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reviewed-ready Gherkin from a requirement or cURL in minutes, not days.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18288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50392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human-reviewed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03920" y="33832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TestRail push is explicitly approved — a full audit trail from run to record.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assumed: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writes a JSON metrics summary (pass rate, healing events, duration) — targets above are validated during the Phase 2 pilot and reported monthly.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the Numbers — How Each Gain Is Achieved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5029200"/>
          </a:xfrm>
          <a:prstGeom prst="roundRect">
            <a:avLst>
              <a:gd name="adj" fmla="val 3038"/>
            </a:avLst>
          </a:prstGeom>
          <a:solidFill>
            <a:srgbClr val="F3F6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−70% 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maintenance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UI change breaks locators; every fix costs an engineer ≈1–2 h: reproduce, inspect the page, patch, re-run.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1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FRAMEWORK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38679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repairs the locator mid-run from the live DOM. The suite keeps going; healed selectors are batch-reviewed in minutes.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52395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selectors the AI cannot heal (target &lt;10%) ever reach an engineer — repair effort collapses to review effort.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611880" cy="5029200"/>
          </a:xfrm>
          <a:prstGeom prst="roundRect">
            <a:avLst>
              <a:gd name="adj" fmla="val 3038"/>
            </a:avLst>
          </a:prstGeom>
          <a:solidFill>
            <a:srgbClr val="F3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508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8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 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scenario drafting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22402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24963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E2E scenario ≈2 days: write Gherkin, step code, test data — then review cycles on top.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36118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1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FRAMEWORK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38679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.feature from a cURL or requirement in minutes; Executor + Validator agents pre-run it, so review starts from a working test.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4983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52395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 shifts from authoring (~2 days) to reviewing (~1–2 h) — roughly 10× end-to-end.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0" y="1325880"/>
            <a:ext cx="3611880" cy="5029200"/>
          </a:xfrm>
          <a:prstGeom prst="roundRect">
            <a:avLst>
              <a:gd name="adj" fmla="val 3038"/>
            </a:avLst>
          </a:prstGeom>
          <a:solidFill>
            <a:srgbClr val="F3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1508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 results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595360" y="22402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95360" y="24963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reach TestRail ad hoc — copied by hand, or pushed blindly by CI with no review step.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95360" y="36118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1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FRAMEWORK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95360" y="38679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queue locally. A reviewer runs !testrail preview, then explicitly pushes — or discards.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95360" y="4983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595360" y="52395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mechanism, not a policy: no auto-push path exists in the code, so review is guaranteed by design.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Roadmap — 4 Phases, 6 Months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51760" cy="3794760"/>
          </a:xfrm>
          <a:prstGeom prst="roundRect">
            <a:avLst>
              <a:gd name="adj" fmla="val 4138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0071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37360" y="213969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1–1.5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Playwright + Behave + Allure engine, page objects, API clients, CI pipeline.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0128" y="3246120"/>
            <a:ext cx="256032" cy="4114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1554480"/>
            <a:ext cx="2651760" cy="3794760"/>
          </a:xfrm>
          <a:prstGeom prst="roundRect">
            <a:avLst>
              <a:gd name="adj" fmla="val 4138"/>
            </a:avLst>
          </a:prstGeom>
          <a:solidFill>
            <a:srgbClr val="F3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3794760" y="18288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68" y="20071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17720" y="213969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79476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794760" y="32004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selectors, AI test generation, multi-agent validation pipeline.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90488" y="3246120"/>
            <a:ext cx="256032" cy="4114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0" y="1554480"/>
            <a:ext cx="2651760" cy="3794760"/>
          </a:xfrm>
          <a:prstGeom prst="roundRect">
            <a:avLst>
              <a:gd name="adj" fmla="val 4138"/>
            </a:avLst>
          </a:prstGeom>
          <a:solidFill>
            <a:srgbClr val="F3F6FC"/>
          </a:solidFill>
          <a:ln/>
        </p:spPr>
      </p:sp>
      <p:sp>
        <p:nvSpPr>
          <p:cNvPr id="20" name="Shape 16"/>
          <p:cNvSpPr/>
          <p:nvPr/>
        </p:nvSpPr>
        <p:spPr>
          <a:xfrm>
            <a:off x="667512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428" y="20071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498080" y="213969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67512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3.5–4.5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675120" y="32004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WhatsApp chat commands, governed TestRail workflow, unified alerts.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070848" y="3246120"/>
            <a:ext cx="256032" cy="4114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7" name="Shape 22"/>
          <p:cNvSpPr/>
          <p:nvPr/>
        </p:nvSpPr>
        <p:spPr>
          <a:xfrm>
            <a:off x="9281160" y="1554480"/>
            <a:ext cx="2651760" cy="3794760"/>
          </a:xfrm>
          <a:prstGeom prst="roundRect">
            <a:avLst>
              <a:gd name="adj" fmla="val 4138"/>
            </a:avLst>
          </a:prstGeom>
          <a:solidFill>
            <a:srgbClr val="F3F6FC"/>
          </a:solidFill>
          <a:ln/>
        </p:spPr>
      </p:sp>
      <p:sp>
        <p:nvSpPr>
          <p:cNvPr id="28" name="Shape 23"/>
          <p:cNvSpPr/>
          <p:nvPr/>
        </p:nvSpPr>
        <p:spPr>
          <a:xfrm>
            <a:off x="9555480" y="18288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788" y="200710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3784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0378440" y="213969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55548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9555480" y="32004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 handoff, parallel execution, training, docs, hardening.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40080" y="5669280"/>
            <a:ext cx="1097280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5" name="Text 29"/>
          <p:cNvSpPr/>
          <p:nvPr/>
        </p:nvSpPr>
        <p:spPr>
          <a:xfrm>
            <a:off x="91440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from Month 6: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maintenance track — ~0.5 FTE, weekly triage, quarterly AI model &amp; cost review (maintenance slide).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Phase Has a Definite Goal — and a Measurable Exit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40880" y="1371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EXIT CRITERIA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51760" y="19659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core engine: Playwright + Behave + Allure, page objects, API client layer, CI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19659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suite green in CI; Allure report auto-published on every run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 Layer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51760" y="3063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and AI generation live behind a provider-agnostic LLM abstraction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30632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of broken selectors auto-healed in pilot; first AI-drafted features merged after review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Integrations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51760" y="41605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Chat-driven operations plus the governed TestRail review workflow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41605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!run and !testrail live in Teams &amp; WhatsApp; queue → preview → push demonstrated end-to-end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5780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Rollout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651760" y="52578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 self-sufficient on e2e/; framework hardened for daily use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52578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runs suites independently; 150+ unit tests passing; parallel runs; training complete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Milestones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468880" y="132588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468880" y="1691640"/>
            <a:ext cx="0" cy="3566160"/>
          </a:xfrm>
          <a:prstGeom prst="line">
            <a:avLst/>
          </a:prstGeom>
          <a:noFill/>
          <a:ln w="9525">
            <a:solidFill>
              <a:srgbClr val="E1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92880" y="132588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92880" y="1691640"/>
            <a:ext cx="0" cy="3566160"/>
          </a:xfrm>
          <a:prstGeom prst="line">
            <a:avLst/>
          </a:prstGeom>
          <a:noFill/>
          <a:ln w="9525">
            <a:solidFill>
              <a:srgbClr val="E1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16880" y="132588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16880" y="1691640"/>
            <a:ext cx="0" cy="3566160"/>
          </a:xfrm>
          <a:prstGeom prst="line">
            <a:avLst/>
          </a:prstGeom>
          <a:noFill/>
          <a:ln w="9525">
            <a:solidFill>
              <a:srgbClr val="E1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32588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1691640"/>
            <a:ext cx="0" cy="3566160"/>
          </a:xfrm>
          <a:prstGeom prst="line">
            <a:avLst/>
          </a:prstGeom>
          <a:noFill/>
          <a:ln w="9525">
            <a:solidFill>
              <a:srgbClr val="E1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4880" y="132588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64880" y="1691640"/>
            <a:ext cx="0" cy="3566160"/>
          </a:xfrm>
          <a:prstGeom prst="line">
            <a:avLst/>
          </a:prstGeom>
          <a:noFill/>
          <a:ln w="9525">
            <a:solidFill>
              <a:srgbClr val="E1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88880" y="132588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88880" y="1691640"/>
            <a:ext cx="0" cy="3566160"/>
          </a:xfrm>
          <a:prstGeom prst="line">
            <a:avLst/>
          </a:prstGeom>
          <a:noFill/>
          <a:ln w="9525">
            <a:solidFill>
              <a:srgbClr val="E1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12880" y="1691640"/>
            <a:ext cx="0" cy="3566160"/>
          </a:xfrm>
          <a:prstGeom prst="line">
            <a:avLst/>
          </a:prstGeom>
          <a:noFill/>
          <a:ln w="9525">
            <a:solidFill>
              <a:srgbClr val="E1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468880" y="1847088"/>
            <a:ext cx="2286000" cy="420624"/>
          </a:xfrm>
          <a:prstGeom prst="roundRect">
            <a:avLst>
              <a:gd name="adj" fmla="val 2173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42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AI Layer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2286000" cy="420624"/>
          </a:xfrm>
          <a:prstGeom prst="roundRect">
            <a:avLst>
              <a:gd name="adj" fmla="val 21739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552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Integrations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0" y="3273552"/>
            <a:ext cx="2286000" cy="420624"/>
          </a:xfrm>
          <a:prstGeom prst="roundRect">
            <a:avLst>
              <a:gd name="adj" fmla="val 2173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68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Rollout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0" y="3986784"/>
            <a:ext cx="2286000" cy="420624"/>
          </a:xfrm>
          <a:prstGeom prst="roundRect">
            <a:avLst>
              <a:gd name="adj" fmla="val 21739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681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(ongoing)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88880" y="4700016"/>
            <a:ext cx="1524000" cy="420624"/>
          </a:xfrm>
          <a:prstGeom prst="roundRect">
            <a:avLst>
              <a:gd name="adj" fmla="val 21739"/>
            </a:avLst>
          </a:prstGeom>
          <a:solidFill>
            <a:srgbClr val="8FA3CE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11640312" y="4736592"/>
            <a:ext cx="274320" cy="347472"/>
          </a:xfrm>
          <a:prstGeom prst="triangle">
            <a:avLst/>
          </a:prstGeom>
          <a:solidFill>
            <a:srgbClr val="8FA3CE"/>
          </a:solidFill>
          <a:ln/>
        </p:spPr>
      </p:sp>
      <p:sp>
        <p:nvSpPr>
          <p:cNvPr id="27" name="Shape 25"/>
          <p:cNvSpPr/>
          <p:nvPr/>
        </p:nvSpPr>
        <p:spPr>
          <a:xfrm>
            <a:off x="2468880" y="5623560"/>
            <a:ext cx="91440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54296" y="5522976"/>
            <a:ext cx="201168" cy="201168"/>
          </a:xfrm>
          <a:prstGeom prst="diamond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5806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smoke suite green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40296" y="5522976"/>
            <a:ext cx="201168" cy="201168"/>
          </a:xfrm>
          <a:prstGeom prst="diamond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5806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pilot review: healing ≥90%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26296" y="5522976"/>
            <a:ext cx="201168" cy="201168"/>
          </a:xfrm>
          <a:prstGeom prst="diamond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5806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Chat-ops + TestRail live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512296" y="5522976"/>
            <a:ext cx="201168" cy="201168"/>
          </a:xfrm>
          <a:prstGeom prst="diamond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9646920" y="5806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QA handoff complete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486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Last — the Maintenance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10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48716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owns agent/ (AI, integrations); QA owns e2e/ (tests). Independent release cadences, one shared contract.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46304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3F6FC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7373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9037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810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cadence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29400" y="248716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failure triage · monthly Playwright &amp; dependency updates · quarterly LLM model + cost review.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9319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3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3726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steady-state cost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60120" y="49560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FTE after rollout. AI usage on a fast, low-cost model class — healing calls cost cents, and stub mode keeps CI free.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309360" y="39319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3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58368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3726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by design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629400" y="49560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only via environment · TestRail push always manual · AI fully disableable · 150+ unit tests guard the engine.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&amp;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27336E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80136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48" y="197967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728216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6-month roadmap &amp; staffing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965960" y="21488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engineers for the build (Phases 1–4), tapering to ~0.5 FTE for steady-state maintenance.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9260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27336E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312724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8" y="330555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3054096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access in week 1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965960" y="34747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key (Anthropic), TestRail project &amp; API access, Teams / WhatsApp webhook registration.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425196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27336E"/>
          </a:solidFill>
          <a:ln/>
        </p:spPr>
      </p:sp>
      <p:sp>
        <p:nvSpPr>
          <p:cNvPr id="14" name="Shape 10"/>
          <p:cNvSpPr/>
          <p:nvPr/>
        </p:nvSpPr>
        <p:spPr>
          <a:xfrm>
            <a:off x="1005840" y="445312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" y="463143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4379976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Phase 1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65960" y="4800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deliverable is concrete and near: smoke suite green in CI with a published Allure report by Week 6.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today — the framework pays for its build cost through reduced test maintenance alone, and every later phase compounds the return.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2026-07-20T13:52:16Z</dcterms:created>
  <dcterms:modified xsi:type="dcterms:W3CDTF">2026-07-20T13:52:16Z</dcterms:modified>
</cp:coreProperties>
</file>